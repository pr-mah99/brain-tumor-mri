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572"/>
    <a:srgbClr val="08458A"/>
    <a:srgbClr val="4594C7"/>
    <a:srgbClr val="E1F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A5D9-278D-731D-1242-3BBB9D869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2ED64-B33E-B487-218F-9CEC3B44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42DE-4C9B-5004-F1A6-F3646AD2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EDCE-B0D8-BAB5-A292-DAF62D88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D90E9-9D1A-491E-DE71-255089A4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7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DA83-2195-C442-16E2-3DA09E3F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97F01-18E4-4F73-86AE-0A7E320E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D6F6-15BC-4DB6-56F7-A0378A74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22B3-29A3-934C-6F92-25A28A1F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049FB-8C8E-4B9C-DD7E-D738671E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2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49AD-CBEA-C2F6-9343-193163CFD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3C38B-E197-0927-4F55-9E113EFD3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B403-1EE1-9AEB-A687-45C08A0F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FE25A-A095-03CD-C42A-1ACF777D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E5682-39AC-AD3D-F789-19C1FB5D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9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B916-4E2A-A10A-34BC-849FC683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0EAEC-6939-461A-0756-AD7C8077F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13ED6-9509-2FAB-7896-4D151EC49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DD268-9E1A-08B7-1CE0-93CDA2BB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0F754-5556-AEC3-1EC7-BA4AB878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82658-2D98-68BC-EF36-B7F3C28C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3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8F81-D3DF-2067-751A-E6D6BFF9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175C5-7188-E846-D1D7-2074935A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C35A-633B-D28A-2678-8EF5AB137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36457-C9D8-E7AD-5348-F7674E7D8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EFEB4-6A2F-37AE-EF5A-754C281D6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51E13-92AB-8F56-65B9-4138889D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C9A91-93EE-B3F0-A5AF-5F52A50D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96AEB-A1DB-77AC-A29F-6851EA54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5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315EE-2F86-FFDE-149A-40C242E3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875AF-5C08-9550-D161-FE81E4F1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53603-83B0-78D6-F7FB-ADB07E57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96F24-2015-1853-35A8-98AD3307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12F07-FD03-0C42-EEEF-DAF882DFD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EE989-300C-DA4C-128B-CCB4FA30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20519-9608-D9DB-B172-3811A4F6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7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BB4D-CE77-5E21-620D-A1CAAA03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9CC55-818F-8EFA-837B-367617A4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BBE77-9453-E8C8-5626-3E89CBFA6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6874A-37F1-EFF8-283E-1E4C8D4E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4326-4EBB-34D1-2C9A-E53784A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0327D-7815-158E-265A-F9C00830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3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6AF8-CE34-2313-4F79-42490AD9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F230C-3F30-3E36-7ED5-55BB3E83F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E9A35-990C-42CF-A417-A3E45F51B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1FC9-F8C5-3DCC-ED9F-CA7159E6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BA45D-25E1-1876-7D2F-89837285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DE2C9-C689-AB95-4C37-9A11BFB5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3AD1-A6E1-EC6A-BC1A-19BD149E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11A33-A700-5A02-8EAE-7A876D558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7A282-FFF0-B0A6-7BD0-CAACF215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7FF36-D098-3A5C-40D4-79D389BC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408BF-AC97-C060-0BFB-091133D3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F5AB9-A00F-CE18-C0B3-0CE575248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A6B9A-696C-E14E-2063-A8DEEC21F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5FDA4-4999-9D83-11E2-612FC448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9753-2AE6-30AC-ADCE-ACD30829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A3BA5-CFA6-CC99-9AB8-40EEFFA0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4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CD552F-3451-C277-5712-3E0A91951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62ED0-9781-A559-B47A-B964BC16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2424-1B4A-108E-9A83-2F9A19295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75497-1559-46F5-9674-6055D02E600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87948-4DAE-1132-3C6B-BE138CBB8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151C5-DA62-0E3E-8D34-8E977DA81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FBFF8-6405-4F99-8EED-4EE7901A1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4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4.emf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png"/><Relationship Id="rId5" Type="http://schemas.openxmlformats.org/officeDocument/2006/relationships/image" Target="../media/image3.emf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emf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275D65F-35AC-5E23-0802-C2C7D7B4F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0739" y="4679310"/>
            <a:ext cx="3007556" cy="16462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E7D75-3E91-4390-8311-897DDD18D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108" y="30490"/>
            <a:ext cx="9144000" cy="863004"/>
          </a:xfrm>
        </p:spPr>
        <p:txBody>
          <a:bodyPr>
            <a:normAutofit fontScale="90000"/>
          </a:bodyPr>
          <a:lstStyle/>
          <a:p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A Novel Deep Learning Approach with Modified CNN</a:t>
            </a:r>
            <a:b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 for Multi-Class Brain Tumor Classification</a:t>
            </a:r>
            <a:b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sz="1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US" sz="1400" dirty="0">
              <a:latin typeface="Aharoni" panose="02010803020104030203" pitchFamily="2" charset="-79"/>
              <a:cs typeface="AL-Mateen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6B6CC-1D81-1E73-B4F9-DD9348A7F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83" y="1267548"/>
            <a:ext cx="2821698" cy="3217641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1400" b="1" dirty="0">
                <a:latin typeface="Helvetica Neue"/>
              </a:rPr>
              <a:t>What is Brain Tumor Classification? </a:t>
            </a:r>
          </a:p>
          <a:p>
            <a:pPr algn="just"/>
            <a:r>
              <a:rPr lang="en-US" sz="1400" dirty="0"/>
              <a:t>Brain tumor classification involves the automated detection and categorization of brain tumors using Magnetic Resonance Imaging (MRI) scans. In traditional clinical practice, radiologists manually review MRI images, a process that can be time-consuming, subjective, and prone to human error. Automated classification plays a central role in Computer-Aided Diagnosis (CAD) systems by improving efficiency and supporting clinical decision-making. Our research introduces an ultra-lightweight Convolutional Neural Network (CNN) model that integrates three novel patent-pending components. The first is a Micro Adaptive Feature Extractor that dynamically adjusts feature importance through spatial attention mechanisms.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45C23F-D4F8-AAC2-02DB-216CC0946949}"/>
              </a:ext>
            </a:extLst>
          </p:cNvPr>
          <p:cNvSpPr txBox="1"/>
          <p:nvPr/>
        </p:nvSpPr>
        <p:spPr>
          <a:xfrm>
            <a:off x="6526306" y="19094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2434C-F218-10D4-8013-324E479FC435}"/>
              </a:ext>
            </a:extLst>
          </p:cNvPr>
          <p:cNvSpPr txBox="1"/>
          <p:nvPr/>
        </p:nvSpPr>
        <p:spPr>
          <a:xfrm>
            <a:off x="5883243" y="2925504"/>
            <a:ext cx="314689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70C0"/>
                </a:solidFill>
              </a:rPr>
              <a:t>MATHEMATICAL MODEL </a:t>
            </a:r>
          </a:p>
          <a:p>
            <a:pPr algn="just"/>
            <a:r>
              <a:rPr lang="en-US" sz="1100" dirty="0"/>
              <a:t>Adaptive feature extraction for MRI tumor detection using attention mechanisms:</a:t>
            </a:r>
          </a:p>
          <a:p>
            <a:pPr algn="just"/>
            <a:r>
              <a:rPr lang="en-US" sz="1100" b="1" dirty="0"/>
              <a:t>Spatial Attention: </a:t>
            </a:r>
            <a:r>
              <a:rPr lang="en-US" sz="1100" dirty="0"/>
              <a:t>		</a:t>
            </a:r>
            <a:r>
              <a:rPr lang="pt-BR" sz="1100" kern="100" dirty="0">
                <a:solidFill>
                  <a:srgbClr val="000000"/>
                </a:solidFill>
                <a:effectLst/>
                <a:latin typeface="Times-Roman"/>
                <a:ea typeface="Calibri" panose="020F0502020204030204" pitchFamily="34" charset="0"/>
                <a:cs typeface="Times-Roman"/>
              </a:rPr>
              <a:t>(1)</a:t>
            </a:r>
            <a:endParaRPr lang="ar-IQ" sz="1100" kern="100" dirty="0">
              <a:solidFill>
                <a:srgbClr val="000000"/>
              </a:solidFill>
              <a:effectLst/>
              <a:latin typeface="Times-Roman"/>
              <a:ea typeface="Calibri" panose="020F0502020204030204" pitchFamily="34" charset="0"/>
              <a:cs typeface="Times-Roman"/>
            </a:endParaRPr>
          </a:p>
          <a:p>
            <a:pPr algn="just"/>
            <a:r>
              <a:rPr lang="en-US" sz="1100" dirty="0"/>
              <a:t>where </a:t>
            </a:r>
            <a:r>
              <a:rPr lang="en-US" sz="1100" b="1" dirty="0"/>
              <a:t>σ</a:t>
            </a:r>
            <a:r>
              <a:rPr lang="ar-IQ" sz="1100" dirty="0"/>
              <a:t> </a:t>
            </a:r>
            <a:r>
              <a:rPr lang="en-US" sz="1100" dirty="0"/>
              <a:t>denotes </a:t>
            </a:r>
            <a:r>
              <a:rPr lang="en-US" sz="1100" b="1" i="1" dirty="0"/>
              <a:t>sigmoid</a:t>
            </a:r>
            <a:r>
              <a:rPr lang="en-US" sz="1100" dirty="0"/>
              <a:t> activation function and </a:t>
            </a:r>
            <a:r>
              <a:rPr lang="en-US" sz="1100" b="1" i="1" dirty="0">
                <a:effectLst/>
              </a:rPr>
              <a:t>C</a:t>
            </a:r>
            <a:r>
              <a:rPr lang="en-US" sz="1100" b="1" i="1" dirty="0"/>
              <a:t>on</a:t>
            </a:r>
            <a:r>
              <a:rPr lang="en-US" sz="1100" b="1" i="1" dirty="0">
                <a:effectLst/>
              </a:rPr>
              <a:t>v</a:t>
            </a:r>
            <a:r>
              <a:rPr lang="en-US" sz="1100" dirty="0"/>
              <a:t> represents convolution operations.</a:t>
            </a:r>
          </a:p>
          <a:p>
            <a:pPr algn="just"/>
            <a:r>
              <a:rPr lang="en-US" sz="1100" b="1" dirty="0"/>
              <a:t>Channel Attention:</a:t>
            </a:r>
            <a:r>
              <a:rPr lang="en-US" sz="1100" dirty="0"/>
              <a:t>		</a:t>
            </a:r>
            <a:r>
              <a:rPr lang="pt-BR" sz="1100" kern="100" dirty="0">
                <a:solidFill>
                  <a:srgbClr val="000000"/>
                </a:solidFill>
                <a:effectLst/>
                <a:latin typeface="Times-Roman"/>
                <a:ea typeface="Calibri" panose="020F0502020204030204" pitchFamily="34" charset="0"/>
                <a:cs typeface="Times-Roman"/>
              </a:rPr>
              <a:t>(2)</a:t>
            </a:r>
            <a:endParaRPr lang="ar-IQ" sz="1100" kern="100" dirty="0">
              <a:solidFill>
                <a:srgbClr val="000000"/>
              </a:solidFill>
              <a:effectLst/>
              <a:latin typeface="Times-Roman"/>
              <a:ea typeface="Calibri" panose="020F0502020204030204" pitchFamily="34" charset="0"/>
              <a:cs typeface="Times-Roman"/>
            </a:endParaRPr>
          </a:p>
          <a:p>
            <a:pPr algn="just"/>
            <a:r>
              <a:rPr lang="en-US" sz="1100" dirty="0"/>
              <a:t>where </a:t>
            </a:r>
            <a:r>
              <a:rPr lang="en-US" sz="1100" b="1" i="1" dirty="0"/>
              <a:t>GAP</a:t>
            </a:r>
            <a:r>
              <a:rPr lang="en-US" sz="1100" dirty="0"/>
              <a:t> denotes Global Average Pooling and </a:t>
            </a:r>
            <a:r>
              <a:rPr lang="en-US" sz="1100" b="1" i="1" dirty="0" err="1">
                <a:effectLst/>
              </a:rPr>
              <a:t>Wc</a:t>
            </a:r>
            <a:r>
              <a:rPr lang="en-US" sz="1100" dirty="0"/>
              <a:t>​ is the channel attention weight.</a:t>
            </a:r>
          </a:p>
          <a:p>
            <a:pPr algn="just"/>
            <a:r>
              <a:rPr lang="en-US" sz="1100" b="1" dirty="0"/>
              <a:t>Adaptive Output:		</a:t>
            </a:r>
            <a:r>
              <a:rPr lang="pt-BR" sz="1100" b="1" kern="100" dirty="0">
                <a:solidFill>
                  <a:srgbClr val="000000"/>
                </a:solidFill>
                <a:effectLst/>
                <a:latin typeface="Times-Roman"/>
                <a:ea typeface="Calibri" panose="020F0502020204030204" pitchFamily="34" charset="0"/>
                <a:cs typeface="Times-Roman"/>
              </a:rPr>
              <a:t>(3)</a:t>
            </a:r>
            <a:endParaRPr lang="ar-IQ" sz="1100" b="1" kern="100" dirty="0">
              <a:solidFill>
                <a:srgbClr val="000000"/>
              </a:solidFill>
              <a:effectLst/>
              <a:latin typeface="Times-Roman"/>
              <a:ea typeface="Calibri" panose="020F0502020204030204" pitchFamily="34" charset="0"/>
              <a:cs typeface="Times-Roman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AB83C-913B-4F52-856B-D077B3798054}"/>
              </a:ext>
            </a:extLst>
          </p:cNvPr>
          <p:cNvSpPr txBox="1"/>
          <p:nvPr/>
        </p:nvSpPr>
        <p:spPr>
          <a:xfrm>
            <a:off x="9341785" y="1284867"/>
            <a:ext cx="2850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1000"/>
              </a:spcAft>
            </a:pPr>
            <a:r>
              <a:rPr lang="pt-BR" sz="1400" kern="100" dirty="0">
                <a:solidFill>
                  <a:srgbClr val="000000"/>
                </a:solidFill>
                <a:effectLst/>
                <a:latin typeface="MathematicalPi-Three"/>
                <a:ea typeface="Times New Roman" panose="02020603050405020304" pitchFamily="18" charset="0"/>
                <a:cs typeface="MathematicalPi-Three"/>
              </a:rPr>
              <a:t> </a:t>
            </a:r>
            <a:endParaRPr lang="en-US" sz="1400" kern="100" dirty="0">
              <a:solidFill>
                <a:srgbClr val="000000"/>
              </a:solidFill>
              <a:latin typeface="Times-Roman"/>
              <a:ea typeface="Calibri" panose="020F0502020204030204" pitchFamily="34" charset="0"/>
              <a:cs typeface="Times-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970879-1CA5-FB5C-0D76-89D9D24FF746}"/>
              </a:ext>
            </a:extLst>
          </p:cNvPr>
          <p:cNvSpPr txBox="1"/>
          <p:nvPr/>
        </p:nvSpPr>
        <p:spPr>
          <a:xfrm>
            <a:off x="3724834" y="433728"/>
            <a:ext cx="4545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+mj-lt"/>
                <a:cs typeface="AL-Mateen" pitchFamily="2" charset="-78"/>
              </a:rPr>
              <a:t>Mahmoud Shamran Atheeb, </a:t>
            </a:r>
            <a:r>
              <a:rPr lang="en-US" sz="1200" b="1" dirty="0" err="1">
                <a:latin typeface="+mj-lt"/>
                <a:cs typeface="AL-Mateen" pitchFamily="2" charset="-78"/>
              </a:rPr>
              <a:t>Baraa</a:t>
            </a:r>
            <a:r>
              <a:rPr lang="en-US" sz="1200" b="1" dirty="0">
                <a:latin typeface="+mj-lt"/>
                <a:cs typeface="AL-Mateen" pitchFamily="2" charset="-78"/>
              </a:rPr>
              <a:t> </a:t>
            </a:r>
            <a:r>
              <a:rPr lang="en-US" sz="1200" b="1" dirty="0" err="1">
                <a:latin typeface="+mj-lt"/>
                <a:cs typeface="AL-Mateen" pitchFamily="2" charset="-78"/>
              </a:rPr>
              <a:t>Ismeal</a:t>
            </a:r>
            <a:r>
              <a:rPr lang="en-US" sz="1200" b="1" dirty="0">
                <a:latin typeface="+mj-lt"/>
                <a:cs typeface="AL-Mateen" pitchFamily="2" charset="-78"/>
              </a:rPr>
              <a:t> Farhan</a:t>
            </a:r>
            <a:br>
              <a:rPr lang="en-US" sz="1200" b="1" dirty="0">
                <a:latin typeface="+mj-lt"/>
                <a:cs typeface="AL-Mateen" pitchFamily="2" charset="-78"/>
              </a:rPr>
            </a:br>
            <a:r>
              <a:rPr lang="en-US" sz="1200" b="1" dirty="0">
                <a:latin typeface="+mj-lt"/>
                <a:cs typeface="AL-Mateen" pitchFamily="2" charset="-78"/>
              </a:rPr>
              <a:t>Computer Department - College of Education for Pure Science</a:t>
            </a:r>
            <a:endParaRPr lang="en-US" sz="1200" b="1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619000-27E7-F387-3C32-B341E696C94D}"/>
              </a:ext>
            </a:extLst>
          </p:cNvPr>
          <p:cNvSpPr txBox="1"/>
          <p:nvPr/>
        </p:nvSpPr>
        <p:spPr>
          <a:xfrm>
            <a:off x="9240982" y="2081238"/>
            <a:ext cx="2758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outperforming recent studies by up to 0.66% with superior efficiency.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BFDDBF-031C-0666-9D55-A2EC8E6F406A}"/>
              </a:ext>
            </a:extLst>
          </p:cNvPr>
          <p:cNvSpPr txBox="1"/>
          <p:nvPr/>
        </p:nvSpPr>
        <p:spPr>
          <a:xfrm>
            <a:off x="3240911" y="6149117"/>
            <a:ext cx="251658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latin typeface="Calibri (Body)"/>
              </a:rPr>
              <a:t>The model achieved 99.22% accuracy, with</a:t>
            </a:r>
            <a:r>
              <a:rPr lang="ar-IQ" sz="1100" dirty="0">
                <a:latin typeface="Calibri (Body)"/>
              </a:rPr>
              <a:t> </a:t>
            </a:r>
            <a:r>
              <a:rPr lang="en-US" sz="1100" dirty="0">
                <a:latin typeface="Calibri (Body)"/>
              </a:rPr>
              <a:t>pituitary tumors scoring the highest F1-score of 99%.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73F3CA-4CD8-3A4F-9ABF-B1604D58C572}"/>
              </a:ext>
            </a:extLst>
          </p:cNvPr>
          <p:cNvSpPr txBox="1"/>
          <p:nvPr/>
        </p:nvSpPr>
        <p:spPr>
          <a:xfrm>
            <a:off x="9242383" y="5510279"/>
            <a:ext cx="2826917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650" b="1" dirty="0"/>
              <a:t>Khan S, Ahmed N, Malik K, et al. High-precision brain tumor classification from MRI images using an advanced hybrid deep learning method with minimal radiation exposure. 2025;98:103252.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650" b="1" dirty="0"/>
              <a:t>Khan MA, </a:t>
            </a:r>
            <a:r>
              <a:rPr lang="en-US" sz="650" b="1" dirty="0" err="1"/>
              <a:t>Auvee</a:t>
            </a:r>
            <a:r>
              <a:rPr lang="en-US" sz="650" b="1" dirty="0"/>
              <a:t> RB. Comparative analysis of resource-efficient CNN architectures for brain tumor classification. </a:t>
            </a:r>
            <a:r>
              <a:rPr lang="en-US" sz="650" b="1" dirty="0" err="1"/>
              <a:t>arXiv</a:t>
            </a:r>
            <a:r>
              <a:rPr lang="en-US" sz="650" b="1" dirty="0"/>
              <a:t> preprint arXiv:2411.15596. 2024.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650" b="1" dirty="0"/>
              <a:t>Zahoor A, Khan S, Malik K, et al. Res-</a:t>
            </a:r>
            <a:r>
              <a:rPr lang="en-US" sz="650" b="1" dirty="0" err="1"/>
              <a:t>BRNet</a:t>
            </a:r>
            <a:r>
              <a:rPr lang="en-US" sz="650" b="1" dirty="0"/>
              <a:t>: Residual and region-boundary aware CNN for brain tumor classification from MRI. Biomedicines. 2024;12(7):1395.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650" b="1" dirty="0" err="1"/>
              <a:t>Litjens</a:t>
            </a:r>
            <a:r>
              <a:rPr lang="en-US" sz="650" b="1" dirty="0"/>
              <a:t> G, </a:t>
            </a:r>
            <a:r>
              <a:rPr lang="en-US" sz="650" b="1" dirty="0" err="1"/>
              <a:t>Kooi</a:t>
            </a:r>
            <a:r>
              <a:rPr lang="en-US" sz="650" b="1" dirty="0"/>
              <a:t> T, </a:t>
            </a:r>
            <a:r>
              <a:rPr lang="en-US" sz="650" b="1" dirty="0" err="1"/>
              <a:t>Bejnordi</a:t>
            </a:r>
            <a:r>
              <a:rPr lang="en-US" sz="650" b="1" dirty="0"/>
              <a:t> BE, et al. A survey on deep learning in medical image analysis. Medical Image Analysis. 2017;42:60–88.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28449-5D18-5C95-F462-84A9D08BD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97"/>
          <a:stretch/>
        </p:blipFill>
        <p:spPr>
          <a:xfrm>
            <a:off x="9242384" y="2443180"/>
            <a:ext cx="2756728" cy="1277908"/>
          </a:xfrm>
          <a:prstGeom prst="rect">
            <a:avLst/>
          </a:prstGeom>
        </p:spPr>
      </p:pic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86266D3F-D7DB-F480-2000-C07CE171A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905220"/>
              </p:ext>
            </p:extLst>
          </p:nvPr>
        </p:nvGraphicFramePr>
        <p:xfrm>
          <a:off x="7145744" y="3502110"/>
          <a:ext cx="1535640" cy="160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5586" imgH="238301" progId="Equation.DSMT4">
                  <p:embed/>
                </p:oleObj>
              </mc:Choice>
              <mc:Fallback>
                <p:oleObj name="Equation" r:id="rId4" imgW="2275586" imgH="238301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86266D3F-D7DB-F480-2000-C07CE171A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45744" y="3502110"/>
                        <a:ext cx="1535640" cy="160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E3E6A829-2117-30EE-595A-163647B732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187747"/>
              </p:ext>
            </p:extLst>
          </p:nvPr>
        </p:nvGraphicFramePr>
        <p:xfrm>
          <a:off x="7226469" y="3990927"/>
          <a:ext cx="1535640" cy="160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5586" imgH="238301" progId="Equation.DSMT4">
                  <p:embed/>
                </p:oleObj>
              </mc:Choice>
              <mc:Fallback>
                <p:oleObj name="Equation" r:id="rId6" imgW="2275586" imgH="238301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3E6A829-2117-30EE-595A-163647B73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26469" y="3990927"/>
                        <a:ext cx="1535640" cy="160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E4D31DE8-F0A0-CCC5-A4CF-BB17E42F4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798468"/>
              </p:ext>
            </p:extLst>
          </p:nvPr>
        </p:nvGraphicFramePr>
        <p:xfrm>
          <a:off x="7119279" y="4489111"/>
          <a:ext cx="1038924" cy="161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5325" imgH="200447" progId="Equation.DSMT4">
                  <p:embed/>
                </p:oleObj>
              </mc:Choice>
              <mc:Fallback>
                <p:oleObj name="Equation" r:id="rId8" imgW="1285325" imgH="200447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E4D31DE8-F0A0-CCC5-A4CF-BB17E42F4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19279" y="4489111"/>
                        <a:ext cx="1038924" cy="161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1">
            <a:extLst>
              <a:ext uri="{FF2B5EF4-FFF2-40B4-BE49-F238E27FC236}">
                <a16:creationId xmlns:a16="http://schemas.microsoft.com/office/drawing/2014/main" id="{6416E148-F529-23F7-60FF-47EE96562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582ABFFB-51A1-5FD4-D2AA-E25584DF8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B0185-C71A-F8C0-5F73-AA7FF988D18F}"/>
              </a:ext>
            </a:extLst>
          </p:cNvPr>
          <p:cNvSpPr txBox="1"/>
          <p:nvPr/>
        </p:nvSpPr>
        <p:spPr>
          <a:xfrm>
            <a:off x="9242384" y="3959212"/>
            <a:ext cx="285562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/>
              <a:t>This research demonstrates an ultra-lightweight CNN architecture achieving 96.8% accuracy for brain tumor classification with only 487K parameters and 12ms inference time, making it ideal for deployment on resource-constrained medical devices while maintaining diagnostic-grade performance</a:t>
            </a:r>
            <a:r>
              <a:rPr lang="ar-IQ" sz="1100" dirty="0"/>
              <a:t>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06E30-A4C4-FC4F-19FF-1E077441E4A6}"/>
              </a:ext>
            </a:extLst>
          </p:cNvPr>
          <p:cNvSpPr txBox="1"/>
          <p:nvPr/>
        </p:nvSpPr>
        <p:spPr>
          <a:xfrm>
            <a:off x="3097935" y="1259305"/>
            <a:ext cx="26010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/>
              <a:t>Develop an ultra-light CNN for accurate brain tumor classification from MRI scans, integrating three novel patented components with minimal computational cost.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573D06-5816-B425-D71C-71D8A806BD7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324" r="49316" b="3730"/>
          <a:stretch/>
        </p:blipFill>
        <p:spPr>
          <a:xfrm>
            <a:off x="9237095" y="995912"/>
            <a:ext cx="2721231" cy="11383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851EF8-C915-E59D-24C6-14EA6FB596EA}"/>
              </a:ext>
            </a:extLst>
          </p:cNvPr>
          <p:cNvSpPr txBox="1"/>
          <p:nvPr/>
        </p:nvSpPr>
        <p:spPr>
          <a:xfrm>
            <a:off x="6046166" y="6259959"/>
            <a:ext cx="27980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dirty="0"/>
              <a:t>A total of 15 samples were misclassified: 11 glioma, 4 meningioma, and 1 pituitary cases.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4FCD81-F2DB-E212-D064-5E977E98F3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3"/>
          <a:stretch/>
        </p:blipFill>
        <p:spPr>
          <a:xfrm>
            <a:off x="6203337" y="1061691"/>
            <a:ext cx="2422360" cy="1835015"/>
          </a:xfrm>
          <a:prstGeom prst="rect">
            <a:avLst/>
          </a:prstGeom>
        </p:spPr>
      </p:pic>
      <p:pic>
        <p:nvPicPr>
          <p:cNvPr id="12" name="Picture 11" descr="A diagram of a process&#10;&#10;AI-generated content may be incorrect.">
            <a:extLst>
              <a:ext uri="{FF2B5EF4-FFF2-40B4-BE49-F238E27FC236}">
                <a16:creationId xmlns:a16="http://schemas.microsoft.com/office/drawing/2014/main" id="{7640B7C4-17D8-F2BF-DCE5-B29FD3BF87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4" b="6062"/>
          <a:stretch/>
        </p:blipFill>
        <p:spPr>
          <a:xfrm>
            <a:off x="33600" y="4546983"/>
            <a:ext cx="2847926" cy="2217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3D2C44-7637-5DD7-B67D-7C0FD6BC32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5" r="10426"/>
          <a:stretch/>
        </p:blipFill>
        <p:spPr>
          <a:xfrm>
            <a:off x="3116237" y="2520618"/>
            <a:ext cx="2559107" cy="3376947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05CFBA2-1FDC-1694-F7B3-56AFEE5691ED}"/>
              </a:ext>
            </a:extLst>
          </p:cNvPr>
          <p:cNvSpPr/>
          <p:nvPr/>
        </p:nvSpPr>
        <p:spPr>
          <a:xfrm>
            <a:off x="9129233" y="927793"/>
            <a:ext cx="2940068" cy="5813119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C4F53B-37C3-16BA-6500-111290C6A25A}"/>
              </a:ext>
            </a:extLst>
          </p:cNvPr>
          <p:cNvSpPr/>
          <p:nvPr/>
        </p:nvSpPr>
        <p:spPr>
          <a:xfrm>
            <a:off x="5878552" y="945272"/>
            <a:ext cx="3106411" cy="5795641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DC10E72-0DEC-70F7-1E55-832C29DD95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214" y="57379"/>
            <a:ext cx="863332" cy="86488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C7849A-FADB-13A6-6360-B3A4BE2AE4D7}"/>
              </a:ext>
            </a:extLst>
          </p:cNvPr>
          <p:cNvSpPr/>
          <p:nvPr/>
        </p:nvSpPr>
        <p:spPr>
          <a:xfrm>
            <a:off x="3067028" y="945272"/>
            <a:ext cx="2678262" cy="5819132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D38BE-7607-B211-2054-F2B0240732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11" y="-28618"/>
            <a:ext cx="956412" cy="956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4FC65A-7F4B-9E64-1364-749BAE51C3D8}"/>
              </a:ext>
            </a:extLst>
          </p:cNvPr>
          <p:cNvSpPr txBox="1"/>
          <p:nvPr/>
        </p:nvSpPr>
        <p:spPr>
          <a:xfrm>
            <a:off x="9097410" y="3726875"/>
            <a:ext cx="3000603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ar-IQ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FCA4E5-AE12-62CB-9A93-61C624CA9D6D}"/>
              </a:ext>
            </a:extLst>
          </p:cNvPr>
          <p:cNvSpPr txBox="1"/>
          <p:nvPr/>
        </p:nvSpPr>
        <p:spPr>
          <a:xfrm>
            <a:off x="9069313" y="5224235"/>
            <a:ext cx="3028700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ar-IQ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REFERENCES</a:t>
            </a:r>
            <a:r>
              <a:rPr lang="en-US" sz="1200" b="1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EB9FC-81CB-1FB0-3969-50BB7532046D}"/>
              </a:ext>
            </a:extLst>
          </p:cNvPr>
          <p:cNvSpPr txBox="1"/>
          <p:nvPr/>
        </p:nvSpPr>
        <p:spPr>
          <a:xfrm>
            <a:off x="3034573" y="2230418"/>
            <a:ext cx="2759630" cy="261610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ar-IQ" sz="1100" b="1" dirty="0">
                <a:solidFill>
                  <a:schemeClr val="bg1"/>
                </a:solidFill>
              </a:rPr>
              <a:t>  </a:t>
            </a:r>
            <a:r>
              <a:rPr lang="en-US" sz="1100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C1384-6296-3FEE-2075-4F0FE9E08B73}"/>
              </a:ext>
            </a:extLst>
          </p:cNvPr>
          <p:cNvSpPr txBox="1"/>
          <p:nvPr/>
        </p:nvSpPr>
        <p:spPr>
          <a:xfrm>
            <a:off x="3014460" y="5908380"/>
            <a:ext cx="2759630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ar-IQ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</a:rPr>
              <a:t>THE RESULTS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DE535B6-EFBA-1A53-CDC6-ABDAFF24DB31}"/>
              </a:ext>
            </a:extLst>
          </p:cNvPr>
          <p:cNvSpPr/>
          <p:nvPr/>
        </p:nvSpPr>
        <p:spPr>
          <a:xfrm>
            <a:off x="3658614" y="65831"/>
            <a:ext cx="4797899" cy="813986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38E67E-6CA8-57A6-E649-C62A23115855}"/>
              </a:ext>
            </a:extLst>
          </p:cNvPr>
          <p:cNvSpPr txBox="1"/>
          <p:nvPr/>
        </p:nvSpPr>
        <p:spPr>
          <a:xfrm>
            <a:off x="102901" y="961612"/>
            <a:ext cx="2784412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ar-IQ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18F04C-74E3-07BD-0A05-18A99BA406A3}"/>
              </a:ext>
            </a:extLst>
          </p:cNvPr>
          <p:cNvSpPr txBox="1"/>
          <p:nvPr/>
        </p:nvSpPr>
        <p:spPr>
          <a:xfrm>
            <a:off x="3040887" y="960433"/>
            <a:ext cx="2733554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/>
            <a:r>
              <a:rPr lang="ar-IQ" sz="1100" b="1" dirty="0">
                <a:solidFill>
                  <a:schemeClr val="bg1"/>
                </a:solidFill>
              </a:rPr>
              <a:t>  </a:t>
            </a:r>
            <a:r>
              <a:rPr lang="en-US" sz="1200" b="1" dirty="0">
                <a:solidFill>
                  <a:schemeClr val="bg1"/>
                </a:solidFill>
              </a:rPr>
              <a:t>RESEACH OBEJCTIVE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F87F79-7FE3-65E0-A9E2-7C95D0A963A9}"/>
              </a:ext>
            </a:extLst>
          </p:cNvPr>
          <p:cNvSpPr/>
          <p:nvPr/>
        </p:nvSpPr>
        <p:spPr>
          <a:xfrm>
            <a:off x="53384" y="995912"/>
            <a:ext cx="2847926" cy="5768491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A9411-9946-756B-750B-65A4676277FA}"/>
              </a:ext>
            </a:extLst>
          </p:cNvPr>
          <p:cNvSpPr txBox="1"/>
          <p:nvPr/>
        </p:nvSpPr>
        <p:spPr>
          <a:xfrm>
            <a:off x="32611" y="4252506"/>
            <a:ext cx="2918759" cy="276999"/>
          </a:xfrm>
          <a:prstGeom prst="rect">
            <a:avLst/>
          </a:prstGeom>
          <a:solidFill>
            <a:srgbClr val="083572"/>
          </a:solidFill>
          <a:ln>
            <a:solidFill>
              <a:srgbClr val="08458A"/>
            </a:solidFill>
          </a:ln>
          <a:effectLst>
            <a:innerShdw blurRad="114300">
              <a:prstClr val="black"/>
            </a:innerShdw>
          </a:effectLst>
        </p:spPr>
        <p:txBody>
          <a:bodyPr wrap="square">
            <a:spAutoFit/>
          </a:bodyPr>
          <a:lstStyle/>
          <a:p>
            <a:pPr algn="just"/>
            <a:r>
              <a:rPr lang="ar-IQ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00362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2412</TotalTime>
  <Words>454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Aharoni</vt:lpstr>
      <vt:lpstr>Arial</vt:lpstr>
      <vt:lpstr>Calibri</vt:lpstr>
      <vt:lpstr>Calibri (Body)</vt:lpstr>
      <vt:lpstr>Calibri Light</vt:lpstr>
      <vt:lpstr>Helvetica Neue</vt:lpstr>
      <vt:lpstr>MathematicalPi-Three</vt:lpstr>
      <vt:lpstr>Times-Roman</vt:lpstr>
      <vt:lpstr>Office Theme</vt:lpstr>
      <vt:lpstr>Equation</vt:lpstr>
      <vt:lpstr>A Novel Deep Learning Approach with Modified CNN  for Multi-Class Brain Tumor Classification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Reconnection at Three Dimension null point</dc:title>
  <dc:creator>HP</dc:creator>
  <cp:lastModifiedBy>Mahmoud Shmran</cp:lastModifiedBy>
  <cp:revision>124</cp:revision>
  <dcterms:created xsi:type="dcterms:W3CDTF">2024-02-19T18:28:43Z</dcterms:created>
  <dcterms:modified xsi:type="dcterms:W3CDTF">2026-02-14T01:01:04Z</dcterms:modified>
</cp:coreProperties>
</file>